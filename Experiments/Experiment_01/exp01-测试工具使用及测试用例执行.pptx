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6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8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862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340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35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32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7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548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5067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023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37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BDA09BA-74A3-4234-B4BD-81B198ADBC66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D8BF88-789D-4645-BC71-2D7F3264E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88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BFDC8-38EF-4889-A4F5-EC1EBCCDE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网络测试与分析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5EB635-3A40-4ECB-9430-5A29AEC51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：测试工具使用</a:t>
            </a:r>
            <a:r>
              <a:rPr lang="zh-CN" altLang="en-US"/>
              <a:t>及</a:t>
            </a:r>
            <a:r>
              <a:rPr lang="zh-CN" altLang="zh-CN" sz="180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测试用例执行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390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B6D97-3B45-468E-93A2-BE563D8F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实验教学子目标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2BA97-26B4-4709-969D-85DDB02C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5000"/>
              </a:lnSpc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、认识测试用例在测试中的作用和重要性；</a:t>
            </a:r>
          </a:p>
          <a:p>
            <a:pPr algn="just">
              <a:lnSpc>
                <a:spcPct val="125000"/>
              </a:lnSpc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、能够依据测试用例执行测试操作</a:t>
            </a:r>
          </a:p>
          <a:p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、能够依据测试用例的预期结果描述，对测试执行所获得的数据进行判断与分析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1480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D62C5-59A9-4B36-8B70-EA449F25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课前环节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111E60-DF11-4DC8-953D-8F35917B2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学习内容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提前学习了解测试仪表的基本信息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学习测试软件的安装合适用</a:t>
            </a:r>
          </a:p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学习途径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教材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在线视频学习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，熟悉测试用例设计的概念：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https://www.icourse163.org/spoc/learn/WZU-1461381162?tid=1462149443#/learn/content?type=detail&amp;id=1239169164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实验室现场观摩学习（实验预备课）</a:t>
            </a: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学习成果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熟悉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测试仪表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结构和使用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en-US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熟悉</a:t>
            </a:r>
            <a:r>
              <a:rPr lang="zh-CN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测试软件的使用界面</a:t>
            </a:r>
            <a:endParaRPr lang="en-US" altLang="zh-CN" sz="14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en-US" sz="1400" dirty="0">
                <a:ea typeface="等线" panose="02010600030101010101" pitchFamily="2" charset="-122"/>
                <a:cs typeface="Times New Roman" panose="02020603050405020304" pitchFamily="18" charset="0"/>
              </a:rPr>
              <a:t>掌握测试用例的设计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79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3134A-B5F5-4278-B779-49563465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课中环节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7E12E3-4D4B-4585-BD73-1ECD2C013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学习内容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配置测试环境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使用测试软件配置测试流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zh-CN" altLang="zh-CN" sz="1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测试用例</a:t>
            </a:r>
            <a:r>
              <a:rPr lang="en-US" altLang="zh-CN" sz="1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1/2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获取测试结果数据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针对测试配置、测试运行等内容进行课堂交流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学习测试报告撰写规范，并撰写本次实验报告的初稿</a:t>
            </a:r>
          </a:p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学习途径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实验课堂讲授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实验课堂交流研讨</a:t>
            </a:r>
          </a:p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学习成果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测试结果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数据获得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本次实验报告初稿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764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5E3BE-ECAB-4A2D-8D28-0B7015B2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课后环节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D9FD1-9099-465A-8B62-AEBB8DE57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学习内容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运行已经设计好的</a:t>
            </a:r>
            <a:r>
              <a:rPr lang="zh-CN" altLang="zh-CN" sz="1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测试用例</a:t>
            </a:r>
            <a:r>
              <a:rPr lang="en-US" altLang="zh-CN" sz="1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获取测试结果数据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补充完善本次实验报告并提交</a:t>
            </a:r>
          </a:p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学习途径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课后实验室预约，或虚拟仿真实验平台预约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课后小组讨论，或课后师生交流</a:t>
            </a:r>
          </a:p>
          <a:p>
            <a:pPr algn="just"/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学习成果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测试结果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获取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本次实验报告的终稿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217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612E1-0C21-48E4-87DC-715F992B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相关的测试用例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DCBD929-0DB2-4EF2-9E39-9416C48C0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070216"/>
              </p:ext>
            </p:extLst>
          </p:nvPr>
        </p:nvGraphicFramePr>
        <p:xfrm>
          <a:off x="1222310" y="1743606"/>
          <a:ext cx="10123714" cy="475714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416219">
                  <a:extLst>
                    <a:ext uri="{9D8B030D-6E8A-4147-A177-3AD203B41FA5}">
                      <a16:colId xmlns:a16="http://schemas.microsoft.com/office/drawing/2014/main" val="320246268"/>
                    </a:ext>
                  </a:extLst>
                </a:gridCol>
                <a:gridCol w="7707495">
                  <a:extLst>
                    <a:ext uri="{9D8B030D-6E8A-4147-A177-3AD203B41FA5}">
                      <a16:colId xmlns:a16="http://schemas.microsoft.com/office/drawing/2014/main" val="3368847373"/>
                    </a:ext>
                  </a:extLst>
                </a:gridCol>
              </a:tblGrid>
              <a:tr h="661470">
                <a:tc gridSpan="2"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实验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：测试用例设计及执行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657077"/>
                  </a:ext>
                </a:extLst>
              </a:tr>
              <a:tr h="1352479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测试用例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 dirty="0">
                          <a:effectLst/>
                        </a:rPr>
                        <a:t>交换机</a:t>
                      </a:r>
                      <a:r>
                        <a:rPr lang="en-US" sz="1800" kern="100" dirty="0">
                          <a:effectLst/>
                        </a:rPr>
                        <a:t>MAC</a:t>
                      </a:r>
                      <a:r>
                        <a:rPr lang="zh-CN" sz="1800" kern="100" dirty="0">
                          <a:effectLst/>
                        </a:rPr>
                        <a:t>地址学习功能测试（测试交换机在</a:t>
                      </a:r>
                      <a:r>
                        <a:rPr lang="en-US" sz="1800" kern="100" dirty="0">
                          <a:effectLst/>
                        </a:rPr>
                        <a:t>MAC</a:t>
                      </a:r>
                      <a:r>
                        <a:rPr lang="zh-CN" sz="1800" kern="100" dirty="0">
                          <a:effectLst/>
                        </a:rPr>
                        <a:t>地址学习前和学习后的转发特征）。</a:t>
                      </a:r>
                    </a:p>
                    <a:p>
                      <a:pPr algn="just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</a:endParaRPr>
                    </a:p>
                    <a:p>
                      <a:pPr algn="just"/>
                      <a:r>
                        <a:rPr lang="zh-CN" sz="1800" kern="100" dirty="0">
                          <a:effectLst/>
                        </a:rPr>
                        <a:t>测试用例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完全给出，学习并在测试仪表上执行，观察测试所得的结果，与测试用例表中的预期结果比较，并分析。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4518731"/>
                  </a:ext>
                </a:extLst>
              </a:tr>
              <a:tr h="1352479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测试用例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 err="1">
                          <a:effectLst/>
                        </a:rPr>
                        <a:t>VLan</a:t>
                      </a:r>
                      <a:r>
                        <a:rPr lang="zh-CN" sz="1800" kern="100" dirty="0">
                          <a:effectLst/>
                        </a:rPr>
                        <a:t>数据帧转发功能测试（测试交换机端口属于同一</a:t>
                      </a:r>
                      <a:r>
                        <a:rPr lang="en-US" sz="1800" kern="100" dirty="0" err="1">
                          <a:effectLst/>
                        </a:rPr>
                        <a:t>VLan</a:t>
                      </a:r>
                      <a:r>
                        <a:rPr lang="zh-CN" sz="1800" kern="100" dirty="0">
                          <a:effectLst/>
                        </a:rPr>
                        <a:t>和属于不同</a:t>
                      </a:r>
                      <a:r>
                        <a:rPr lang="en-US" sz="1800" kern="100" dirty="0" err="1">
                          <a:effectLst/>
                        </a:rPr>
                        <a:t>VLan</a:t>
                      </a:r>
                      <a:r>
                        <a:rPr lang="zh-CN" sz="1800" kern="100" dirty="0">
                          <a:effectLst/>
                        </a:rPr>
                        <a:t>时的转发特征）。</a:t>
                      </a:r>
                    </a:p>
                    <a:p>
                      <a:pPr algn="just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</a:endParaRPr>
                    </a:p>
                    <a:p>
                      <a:pPr algn="just"/>
                      <a:r>
                        <a:rPr lang="zh-CN" sz="1800" kern="100" dirty="0">
                          <a:effectLst/>
                        </a:rPr>
                        <a:t>测试用例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需要提前分析给出预期结果，并在测试仪表上执行并验证测试结果与预期描述是否一致，并分析原因。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2091970"/>
                  </a:ext>
                </a:extLst>
              </a:tr>
              <a:tr h="1352479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测试用例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 dirty="0">
                          <a:effectLst/>
                        </a:rPr>
                        <a:t>单播帧和广播帧转发测试（测试交换机对单播帧和广播帧的不同转发特征）。</a:t>
                      </a:r>
                    </a:p>
                    <a:p>
                      <a:pPr algn="just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</a:endParaRPr>
                    </a:p>
                    <a:p>
                      <a:pPr algn="just"/>
                      <a:r>
                        <a:rPr lang="zh-CN" sz="1800" kern="100" dirty="0">
                          <a:effectLst/>
                        </a:rPr>
                        <a:t>测试用例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需要提前进行分析设计，完成测试用例表文档，并在测试仪表上执行，并分析修改可能存在的问题。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8263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3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FA4FF-12E5-4B97-8038-CCFE9A7E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本实验的测试用例设计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FA83F9-B864-4F1F-AD63-D547B347C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只有实验</a:t>
            </a:r>
            <a:r>
              <a:rPr lang="en-US" altLang="zh-CN" dirty="0"/>
              <a:t>1</a:t>
            </a:r>
            <a:r>
              <a:rPr lang="zh-CN" altLang="en-US" dirty="0"/>
              <a:t>给出了测试用例设计示例，后续实验的测试用例都需要实验小组自行设计。</a:t>
            </a:r>
          </a:p>
        </p:txBody>
      </p:sp>
    </p:spTree>
    <p:extLst>
      <p:ext uri="{BB962C8B-B14F-4D97-AF65-F5344CB8AC3E}">
        <p14:creationId xmlns:p14="http://schemas.microsoft.com/office/powerpoint/2010/main" val="1541691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17</TotalTime>
  <Words>475</Words>
  <Application>Microsoft Office PowerPoint</Application>
  <PresentationFormat>宽屏</PresentationFormat>
  <Paragraphs>61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Century Gothic</vt:lpstr>
      <vt:lpstr>Garamond</vt:lpstr>
      <vt:lpstr>肥皂</vt:lpstr>
      <vt:lpstr>网络测试与分析</vt:lpstr>
      <vt:lpstr>实验教学子目标</vt:lpstr>
      <vt:lpstr>课前环节</vt:lpstr>
      <vt:lpstr>课中环节</vt:lpstr>
      <vt:lpstr>课后环节</vt:lpstr>
      <vt:lpstr>实验1相关的测试用例</vt:lpstr>
      <vt:lpstr>本实验的测试用例设计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网络性能测试与分析</dc:title>
  <dc:creator>金 可仲</dc:creator>
  <cp:lastModifiedBy>可仲 金</cp:lastModifiedBy>
  <cp:revision>11</cp:revision>
  <dcterms:created xsi:type="dcterms:W3CDTF">2020-10-20T11:49:26Z</dcterms:created>
  <dcterms:modified xsi:type="dcterms:W3CDTF">2025-09-14T13:45:30Z</dcterms:modified>
</cp:coreProperties>
</file>